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15 seconds. Names, then straight into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research question clearly. Everything later refers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we subsampled: Random Forest fit time. 150k keeps 330 hazardous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99.78% number is the hook. Say it out loud and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MOID and H separate cleanly. This observation is what motivated the experiment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methodological point in the project. ROC 0.98 next to PR 0.37 in the same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on keeping outliers. Answer: they are real objects and they are where the hazardous ones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 point is the one a marker is most likely to probe. Be ready to explain fold-wise 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line. Say the three models, then that imbalance was handled by class weights and validated with stratified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spine of the talk. Make sure the audience understands B and C before showing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caught all 66. HistGB missed 2 but raised far fewer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average precision for Histogram Gradient Boosting. The A to B fall is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likely question of the whole talk. Apollo, Aten and Amor are defined by a, e and q, which the trees already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model, give the number, then admit the Random Forest result in C. Owning it reads better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66-positive limitation. Raising it first is much better than being caught by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lesson one. It is the intellectual core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stay on camera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Classifying Potentially Hazardous Asteroids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371600" y="32461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machine learning on the NASA JPL Small-Body Database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68680" y="42062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Leonardo R. Fabbro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012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66160" y="42062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Madhurishitha Boddu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42062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Kunal Sharma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61120" y="42062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5256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Shunmuka Valsa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5256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00400" y="5623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Term Project  ·  Group 16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Leonardo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08483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JPL designates a small subset of asteroids as Potentially Hazardous. New objects are discovered constantly and telescope time is scarce, so anything that helps triage which orbits deserve follow-up has practical value.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508760"/>
            <a:ext cx="5330952" cy="2148840"/>
          </a:xfrm>
          <a:prstGeom prst="roundRect">
            <a:avLst>
              <a:gd name="adj" fmla="val 4255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The task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2084832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binary classification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pha, Y or N, encoded 1 and 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Predictors: orbital elements and physical measurements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11091672" cy="2194560"/>
          </a:xfrm>
          <a:prstGeom prst="roundRect">
            <a:avLst>
              <a:gd name="adj" fmla="val 4167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Our research question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4526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model predict the hazard designation from catalogue data, and can it still do so once we withhold the two parameters JPL uses to define that designation?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half is what turns this from a prediction exercise into an experiment. We answer it in Part 3.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The Dataset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Leonardo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958,524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in the raw catalogue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74136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65576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938,603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511296" y="2240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retained after cleaning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33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336792" y="2240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features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25128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16568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2,066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162288" y="2240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hazardous objects, 0.22%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532120" cy="2926080"/>
          </a:xfrm>
          <a:prstGeom prst="roundRect">
            <a:avLst>
              <a:gd name="adj" fmla="val 3125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3649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What is in a record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2960" y="3767328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Orbital elements: semi-major axis, eccentricity, inclination, perihelion distance, period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MOID and absolute magnitude H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Physical: diameter and albedo, absent for most objects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Categorical: orbit class and near-Earth flag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3200400"/>
            <a:ext cx="5330952" cy="2926080"/>
          </a:xfrm>
          <a:prstGeom prst="roundRect">
            <a:avLst>
              <a:gd name="adj" fmla="val 3125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3364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Source and scope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583680" y="3767328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JPL Small-Body Database, obtained via Kaggle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identifiers, designations and duplicate date columns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Modelling used a 150,000-record stratified sample for tractable runtimes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proportion preserved exactly in the sample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 Severely Imbalanced Target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Madhurishitha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74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0.22%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catalogued asteroids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the designation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77640" y="1554480"/>
            <a:ext cx="7662672" cy="2286000"/>
          </a:xfrm>
          <a:prstGeom prst="roundRect">
            <a:avLst>
              <a:gd name="adj" fmla="val 4000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1960" y="1737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The accuracy trap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51960" y="2176272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 that predicts "not hazardous" for every single object scores 99.78% accuracy and identifies nothing. Accuracy is not reported anywhere in this project. We use precision, recall, F1 and average precision, all measured on the hazardous class.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286000" y="4114800"/>
            <a:ext cx="75895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4206240"/>
            <a:ext cx="731520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What Separates the Classes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Madhurishitha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167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10725912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1206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51206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separation is definitional, not discovered.  </a:t>
            </a:r>
            <a:pPr indent="0" marL="0">
              <a:buNone/>
            </a:pPr>
            <a:r>
              <a:rPr lang="en-US" sz="13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JPL defines a PHA as Earth MOID below 0.05 au and absolute magnitude 22.0 or brighter. Both are columns in our data, so a model handed them is recovering a published threshold rule.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How We Measure Success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Madhurishitha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27632"/>
            <a:ext cx="4937760" cy="4160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17920" y="1463040"/>
            <a:ext cx="5422392" cy="2103120"/>
          </a:xfrm>
          <a:prstGeom prst="roundRect">
            <a:avLst>
              <a:gd name="adj" fmla="val 4348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92240" y="16276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Average precision is our primary metric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92240" y="22860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and recall ignore true negatives, so the score moves when performance on the rare class moves. It is threshold-independent, which lets us compare models fairly.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17920" y="3840480"/>
            <a:ext cx="5422392" cy="2103120"/>
          </a:xfrm>
          <a:prstGeom prst="roundRect">
            <a:avLst>
              <a:gd name="adj" fmla="val 4348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92240" y="40050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ROC AUC would have misled us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92240" y="440740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three experiments ROC AUC never fell below 0.98, even where average precision dropped to 0.37. With 99.78% negatives, the true-negative count keeps it high no matter what.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Cleaning Decisions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Shunmuka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5727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Removed non-predictive columns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6240" y="1554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identifier and designation fields, plus three calendar duplicates of dates already stored as Julian values.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7706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Resolved the target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06240" y="2752344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Dropped records with an undefined pha label, then encoded the rest as 1 and 0. No duplicate records were found.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877056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9684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Kept the sparse physical fields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06240" y="3950208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Diameter and albedo are absent for most objects. We imputed the median and added a flag recording that the value was missing, because whether an object has been measured is itself informative.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166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Kept the outliers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206240" y="514807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eccentric and inclined orbits are physically real, and Earth-approaching objects live in exactly those tails. Removing them would discard the signal.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Preprocessing Pipeline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Shunmuka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481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Plain numeric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0" y="14813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imputation, then standardisation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267712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2677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Skewed numeric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0" y="226771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imputation, sign-preserving log, then standardisation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054096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0540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Physical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0" y="305409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imputation with a missingness indicator, then standardisation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840480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8404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43200" y="38404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imputation, then one-hot encoding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12280" y="1481328"/>
            <a:ext cx="4828032" cy="2148840"/>
          </a:xfrm>
          <a:prstGeom prst="roundRect">
            <a:avLst>
              <a:gd name="adj" fmla="val 4255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866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Why a sign-preserving log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86600" y="205740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fields span orders of magnitude. A plain log is undefined at zero and refuses negatives, and semi-major axis goes negative for unbound orbits, so we take the log of the magnitude and restore the sign.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12280" y="3886200"/>
            <a:ext cx="4828032" cy="2148840"/>
          </a:xfrm>
          <a:prstGeom prst="roundRect">
            <a:avLst>
              <a:gd name="adj" fmla="val 4255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86600" y="4050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Preventing leakage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86600" y="4462272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transformer sits inside a scikit-learn Pipeline, so it is fitted on training folds only. Scaling before splitting would let the training data see the test set and every score after that would be inflated.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4892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80/20 split.  The test partition was evaluated once, at the very end.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Models, Imbalance and Tuning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Kunal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3557016" cy="1828800"/>
          </a:xfrm>
          <a:prstGeom prst="roundRect">
            <a:avLst>
              <a:gd name="adj" fmla="val 5000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276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2128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baseline. Coefficients show which features push toward the hazardous class.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15968" y="1481328"/>
            <a:ext cx="3557016" cy="1828800"/>
          </a:xfrm>
          <a:prstGeom prst="roundRect">
            <a:avLst>
              <a:gd name="adj" fmla="val 5000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44568" y="16276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44568" y="22128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Bagged trees. Captures non-linear boundaries and yields feature importances.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83296" y="1481328"/>
            <a:ext cx="3557016" cy="1828800"/>
          </a:xfrm>
          <a:prstGeom prst="roundRect">
            <a:avLst>
              <a:gd name="adj" fmla="val 5000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11896" y="16276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Hist Gradient Boosting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11896" y="22128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Boosted trees built for large tabular data. Fast enough to tune properly.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Class imbalance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063240" y="3520440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class weights throughout. SMOTE was tested as an alternative, applied inside training folds only so synthetic rows never reach validation.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416552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4165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63240" y="4416552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5-fold cross-validation, so the rare class appears in every fold.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312664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531266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Tuning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063240" y="5312664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RandomizedSearchCV scored on average precision, run on a stratified slice of the training data, then the winning settings refitted on the full training partition.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Three Experiments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pipeline, identical train and test partitions. The only thing that changes is which features the models are allowed to see.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11091672" cy="1170432"/>
          </a:xfrm>
          <a:prstGeom prst="roundRect">
            <a:avLst>
              <a:gd name="adj" fmla="val 7813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057400"/>
            <a:ext cx="731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28800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Every feature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2240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model reproduce the JPL designation at all?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11091672" cy="1170432"/>
          </a:xfrm>
          <a:prstGeom prst="roundRect">
            <a:avLst>
              <a:gd name="adj" fmla="val 7813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383280"/>
            <a:ext cx="731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82880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Remove MOID, MOID (lunar) and 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3566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designation recoverable without the parameters that define it?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709160"/>
            <a:ext cx="11091672" cy="1170432"/>
          </a:xfrm>
          <a:prstGeom prst="roundRect">
            <a:avLst>
              <a:gd name="adj" fmla="val 7813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709160"/>
            <a:ext cx="731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A86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828800" y="4892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Also remove orbit class and NEO flag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predictive signal remain in the raw orbital geometry alone?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MOID in lunar distances is the same quantity in different units, so it has to go with MOID.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Experiment A: All Features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Madhurishitha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858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Precision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Recall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Avg precision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Logistic Regression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0.4221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0.9848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0.5909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0.6792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Random Forest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0.9041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0.9496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0.9896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Hist Gradient Boosting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0.9412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0.9697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0.9552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0.9949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26680" y="1481328"/>
            <a:ext cx="3913632" cy="1783080"/>
          </a:xfrm>
          <a:prstGeom prst="roundRect">
            <a:avLst>
              <a:gd name="adj" fmla="val 5128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001000" y="1627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Near perfect, and that is the point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01000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models recover the JPL rule. This validates the pipeline but tells us nothing new about asteroids.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474720"/>
            <a:ext cx="1109167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84448"/>
            <a:ext cx="10607040" cy="2011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Lower-left cell of each matrix is a hazardous object the model missed. The test set holds 66 of them.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Results Across All Three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Shunmuka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234440" y="1417320"/>
            <a:ext cx="96926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36192"/>
            <a:ext cx="923544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303520"/>
            <a:ext cx="3557016" cy="960120"/>
          </a:xfrm>
          <a:prstGeom prst="roundRect">
            <a:avLst>
              <a:gd name="adj" fmla="val 9524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4132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 All features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2880360" y="54132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0.9949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15968" y="5303520"/>
            <a:ext cx="3557016" cy="960120"/>
          </a:xfrm>
          <a:prstGeom prst="roundRect">
            <a:avLst>
              <a:gd name="adj" fmla="val 9524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44568" y="54132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 No MOID or H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647688" y="54132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0.3712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083296" y="5303520"/>
            <a:ext cx="3557016" cy="960120"/>
          </a:xfrm>
          <a:prstGeom prst="roundRect">
            <a:avLst>
              <a:gd name="adj" fmla="val 9524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11896" y="54132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 Orbital elements only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415016" y="54132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5A868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0.3712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Our Most Interesting Result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Shunmuka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48132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expected removing orbit class and the NEO flag to hurt. It did not.  </a:t>
            </a:r>
            <a:pPr indent="0" marL="0">
              <a:buNone/>
            </a:pPr>
            <a:r>
              <a:rPr lang="en-US" sz="13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improved, and Gradient Boosting produced identical predictions in both experiments.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167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2377440"/>
                <a:gridCol w="2377440"/>
                <a:gridCol w="25603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Logistic Regression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0.2633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0.2426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-0.0207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Random Forest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0.3846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0.4073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+0.0227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Hist Gradient Boosting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0.3712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0.3712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8B4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006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Why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532180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Dynamical class is derived from semi-major axis, eccentricity and perihelion distance, which the models already had. The categorical fields were redundant rather than informative, so the signal surviving in B and C comes from orbital geometry itself.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Best Model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Kunal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6949440" cy="1097280"/>
          </a:xfrm>
          <a:prstGeom prst="roundRect">
            <a:avLst>
              <a:gd name="adj" fmla="val 8333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910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Highest average precision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193852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on the full feature set at 0.9949, against 0.9896 for Random Forest and 0.6792 for Logistic Regression.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24912"/>
            <a:ext cx="6949440" cy="1097280"/>
          </a:xfrm>
          <a:prstGeom prst="roundRect">
            <a:avLst>
              <a:gd name="adj" fmla="val 8333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Far cheaper to train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318211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Fits in seconds where Random Forest takes minutes on identical data, which made proper tuning feasible.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968496"/>
            <a:ext cx="6949440" cy="1097280"/>
          </a:xfrm>
          <a:prstGeom prst="roundRect">
            <a:avLst>
              <a:gd name="adj" fmla="val 8333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0782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Honest caveat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442569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edges ahead in Experiment C, 0.4073 against 0.3712. Once the defining parameters are withheld the two ensembles are comparable.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26680" y="1481328"/>
            <a:ext cx="391363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00200"/>
            <a:ext cx="3639312" cy="33375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26680" y="512064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feature importance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5230368"/>
            <a:ext cx="6949440" cy="1005840"/>
          </a:xfrm>
          <a:prstGeom prst="roundRect">
            <a:avLst>
              <a:gd name="adj" fmla="val 9091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523036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is not competitive in any condition, which tells us the relationship between orbital parameters and hazard status is not linearly separable.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Conclusions and Limitations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Leonardo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What we conclude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084832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 A is not a discovery. The models recover a rule JPL already published.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Withholding MOID and H costs about 0.62 average precision, so most of that performance was definitional.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signal does survive in the orbital elements alone, around 0.37 to 0.41 against a no-skill baseline of 0.0022.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Ensembles beat the linear model by a widening margin as features are withdrawn.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481328"/>
            <a:ext cx="5330952" cy="4663440"/>
          </a:xfrm>
          <a:prstGeom prst="roundRect">
            <a:avLst>
              <a:gd name="adj" fmla="val 1961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What limits 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2084832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66 hazardous objects in the test set, so each one is worth about 1.5 points of recall.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Perihelion distance and semi-major axis partly reconstruct MOID, so Experiment C removes the number but not the geometry.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catalogue reflects survey bias. Small, dim objects are missing because nobody has found them yet.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Hyperparameters were tuned under A and reused, which may understate B and C.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stratified sample, one split, so no interval estimates.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Lessons Learned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235440" y="475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9C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Leonardo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91672" cy="1024128"/>
          </a:xfrm>
          <a:prstGeom prst="roundRect">
            <a:avLst>
              <a:gd name="adj" fmla="val 8929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48132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37360" y="1609344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Check whether the label is defined by the features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197510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first models scored 0.99 and looked like a success. They were reproducing a published threshold rule.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11091672" cy="1024128"/>
          </a:xfrm>
          <a:prstGeom prst="roundRect">
            <a:avLst>
              <a:gd name="adj" fmla="val 8929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651760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37360" y="2779776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Choose the metric before the model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37360" y="31455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 AUC would have told us all three experiments succeeded. Average precision showed us where performance actually collapsed.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822192"/>
            <a:ext cx="11091672" cy="1024128"/>
          </a:xfrm>
          <a:prstGeom prst="roundRect">
            <a:avLst>
              <a:gd name="adj" fmla="val 8929"/>
            </a:avLst>
          </a:prstGeom>
          <a:solidFill>
            <a:srgbClr val="18243A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822192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37360" y="395020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Redundant features are not evidence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737360" y="43159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Removing orbit class changed nothing, because the elements it derives from were already in the model.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992624"/>
            <a:ext cx="11091672" cy="1024128"/>
          </a:xfrm>
          <a:prstGeom prst="roundRect">
            <a:avLst>
              <a:gd name="adj" fmla="val 8929"/>
            </a:avLst>
          </a:prstGeom>
          <a:solidFill>
            <a:srgbClr val="1E2B4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992624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737360" y="512064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Runtime is a design constraint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737360" y="54864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fitting drove every scheduling decision and pushed us to a stratified subsample.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C5E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16  ·  Leonardo R. Fabbro  ·  Madhurishitha Boddu  ·  Kunal Sharma  ·  Shunmuka Valsa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2026-07-31T23:58:25Z</dcterms:created>
  <dcterms:modified xsi:type="dcterms:W3CDTF">2026-07-31T23:58:25Z</dcterms:modified>
</cp:coreProperties>
</file>